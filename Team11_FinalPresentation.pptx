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XhYS5+KdUc1gqqCdJuU38V7+0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2933723" y="1271993"/>
            <a:ext cx="3276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Face Recognition based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2644366" y="2756600"/>
            <a:ext cx="365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0D4AA"/>
                </a:solidFill>
                <a:latin typeface="Georgia"/>
                <a:ea typeface="Georgia"/>
                <a:cs typeface="Georgia"/>
                <a:sym typeface="Georgia"/>
              </a:rPr>
              <a:t>Attendance System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0" y="4743450"/>
            <a:ext cx="9144000" cy="400050"/>
          </a:xfrm>
          <a:prstGeom prst="rect">
            <a:avLst/>
          </a:prstGeom>
          <a:solidFill>
            <a:srgbClr val="00D4AA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7037680" y="3367421"/>
            <a:ext cx="1563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Submitted by: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Group 11(AAI521 IN4)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(Meghesh Saini,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Aishwarya Gulhane,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Dhrub Satyam)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Guided by: 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Amit Butail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descr="A blue and white logo with a building and palm trees&#10;&#10;AI-generated content may be incorrect.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3733" y="-44572"/>
            <a:ext cx="1396537" cy="1396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457200" y="228600"/>
            <a:ext cx="8277606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457200" y="432346"/>
            <a:ext cx="414851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1708845"/>
            <a:ext cx="4019550" cy="89713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2"/>
          <p:cNvCxnSpPr/>
          <p:nvPr/>
        </p:nvCxnSpPr>
        <p:spPr>
          <a:xfrm>
            <a:off x="476250" y="1708845"/>
            <a:ext cx="0" cy="897136"/>
          </a:xfrm>
          <a:prstGeom prst="straightConnector1">
            <a:avLst/>
          </a:prstGeom>
          <a:noFill/>
          <a:ln cap="flat" cmpd="sng" w="381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"/>
          <p:cNvSpPr/>
          <p:nvPr/>
        </p:nvSpPr>
        <p:spPr>
          <a:xfrm>
            <a:off x="647700" y="1861245"/>
            <a:ext cx="375018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Traditional Methods Fail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7700" y="2110680"/>
            <a:ext cx="37501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Manual roll calls, sign-in sheets, and card systems are slow, error-prone, and easily manipulated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2701230"/>
            <a:ext cx="4019550" cy="89713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2"/>
          <p:cNvCxnSpPr/>
          <p:nvPr/>
        </p:nvCxnSpPr>
        <p:spPr>
          <a:xfrm>
            <a:off x="476250" y="2701230"/>
            <a:ext cx="0" cy="897136"/>
          </a:xfrm>
          <a:prstGeom prst="straightConnector1">
            <a:avLst/>
          </a:prstGeom>
          <a:noFill/>
          <a:ln cap="flat" cmpd="sng" w="381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647700" y="2853630"/>
            <a:ext cx="375018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Proxy Attendance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7700" y="3103066"/>
            <a:ext cx="37501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Students or employees can easily mark attendance for absent colleagues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3693616"/>
            <a:ext cx="4019550" cy="725686"/>
          </a:xfrm>
          <a:prstGeom prst="rect">
            <a:avLst/>
          </a:prstGeom>
          <a:solidFill>
            <a:srgbClr val="FEF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476250" y="3693616"/>
            <a:ext cx="0" cy="725686"/>
          </a:xfrm>
          <a:prstGeom prst="straightConnector1">
            <a:avLst/>
          </a:prstGeom>
          <a:noFill/>
          <a:ln cap="flat" cmpd="sng" w="381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647700" y="3846016"/>
            <a:ext cx="375018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⏱️ Time Consuming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7700" y="4095452"/>
            <a:ext cx="375018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Manual processes waste valuable class or meeting time every session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743450" y="2091779"/>
            <a:ext cx="4019550" cy="1078111"/>
          </a:xfrm>
          <a:prstGeom prst="roundRect">
            <a:avLst>
              <a:gd fmla="val 10602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933950" y="2282279"/>
            <a:ext cx="371132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✓ Our Solution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933950" y="2583210"/>
            <a:ext cx="3711321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an automated face recognition system using deep learning that uniquely identifies individuals without physical tokens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743450" y="3265140"/>
            <a:ext cx="1263700" cy="771376"/>
          </a:xfrm>
          <a:prstGeom prst="roundRect">
            <a:avLst>
              <a:gd fmla="val 9878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66830" y="3398490"/>
            <a:ext cx="101694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866830" y="3756571"/>
            <a:ext cx="10169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Contactless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121450" y="3265140"/>
            <a:ext cx="1263700" cy="771376"/>
          </a:xfrm>
          <a:prstGeom prst="roundRect">
            <a:avLst>
              <a:gd fmla="val 9878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44830" y="3398490"/>
            <a:ext cx="101694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244830" y="3756571"/>
            <a:ext cx="10169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Instant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499449" y="3265140"/>
            <a:ext cx="1263700" cy="771376"/>
          </a:xfrm>
          <a:prstGeom prst="roundRect">
            <a:avLst>
              <a:gd fmla="val 9878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622829" y="3398490"/>
            <a:ext cx="101694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622829" y="3756571"/>
            <a:ext cx="10169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Secure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TECH FOUNDATION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81000" y="432346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Technology Stack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81000" y="1958280"/>
            <a:ext cx="2673400" cy="1219200"/>
          </a:xfrm>
          <a:prstGeom prst="roundRect">
            <a:avLst>
              <a:gd fmla="val 9375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71500" y="214878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066800" y="2165896"/>
            <a:ext cx="734431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DeepFace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066800" y="2379166"/>
            <a:ext cx="7344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v0.0.95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71500" y="2644080"/>
            <a:ext cx="23382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Unified face analysis framework for detection, recognition, and attribute analysis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206800" y="1939230"/>
            <a:ext cx="2711500" cy="125730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416350" y="214878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911650" y="2165896"/>
            <a:ext cx="60479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FaceNet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911650" y="2379166"/>
            <a:ext cx="60479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99.63% LFW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416350" y="2644080"/>
            <a:ext cx="23382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128-dimensional embeddings for highly discriminative face representation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070699" y="1948755"/>
            <a:ext cx="2692450" cy="123825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270724" y="2148780"/>
            <a:ext cx="381000" cy="381000"/>
          </a:xfrm>
          <a:prstGeom prst="roundRect">
            <a:avLst>
              <a:gd fmla="val 20000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766024" y="2165896"/>
            <a:ext cx="829461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RetinaFace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766024" y="2379166"/>
            <a:ext cx="82946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Detector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270724" y="2644080"/>
            <a:ext cx="23382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State-of-the-art face detection with landmark localization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81000" y="4208264"/>
            <a:ext cx="2009775" cy="592336"/>
          </a:xfrm>
          <a:prstGeom prst="roundRect">
            <a:avLst>
              <a:gd fmla="val 128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42529" y="4351139"/>
            <a:ext cx="60312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Gradio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42529" y="4524375"/>
            <a:ext cx="60312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Web Interface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505075" y="4208264"/>
            <a:ext cx="2009775" cy="592336"/>
          </a:xfrm>
          <a:prstGeom prst="roundRect">
            <a:avLst>
              <a:gd fmla="val 128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066604" y="4351139"/>
            <a:ext cx="88441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Google Sheets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066604" y="4524375"/>
            <a:ext cx="88441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Cloud Logging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629150" y="4208264"/>
            <a:ext cx="2009775" cy="592336"/>
          </a:xfrm>
          <a:prstGeom prst="roundRect">
            <a:avLst>
              <a:gd fmla="val 128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190679" y="4351139"/>
            <a:ext cx="707713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TensorFlow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190679" y="4524375"/>
            <a:ext cx="70771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Backend Engine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753225" y="4208264"/>
            <a:ext cx="2009775" cy="592336"/>
          </a:xfrm>
          <a:prstGeom prst="roundRect">
            <a:avLst>
              <a:gd fmla="val 1286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314754" y="4351139"/>
            <a:ext cx="77769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OpenCV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314754" y="4524375"/>
            <a:ext cx="77769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Image Processing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87d4300e.png"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105400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81000" y="432346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System Architecture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04800" y="1118146"/>
            <a:ext cx="1136600" cy="1055340"/>
          </a:xfrm>
          <a:prstGeom prst="roundRect">
            <a:avLst>
              <a:gd fmla="val 9026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01576" y="1270546"/>
            <a:ext cx="342900" cy="342900"/>
          </a:xfrm>
          <a:prstGeom prst="roundRect">
            <a:avLst>
              <a:gd fmla="val 266667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10020" y="1689646"/>
            <a:ext cx="92616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10020" y="1887736"/>
            <a:ext cx="92616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Webcam / Upload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517600" y="1531441"/>
            <a:ext cx="1943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784300" y="1118146"/>
            <a:ext cx="1136600" cy="1093440"/>
          </a:xfrm>
          <a:prstGeom prst="roundRect">
            <a:avLst>
              <a:gd fmla="val 8711" name="adj"/>
            </a:avLst>
          </a:prstGeom>
          <a:solidFill>
            <a:srgbClr val="F0F4F8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181076" y="1289596"/>
            <a:ext cx="342900" cy="342900"/>
          </a:xfrm>
          <a:prstGeom prst="roundRect">
            <a:avLst>
              <a:gd fmla="val 266667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908951" y="1708696"/>
            <a:ext cx="88729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908951" y="1906786"/>
            <a:ext cx="88729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RetinaFace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997101" y="1531441"/>
            <a:ext cx="1943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263801" y="1118146"/>
            <a:ext cx="1136600" cy="1093440"/>
          </a:xfrm>
          <a:prstGeom prst="roundRect">
            <a:avLst>
              <a:gd fmla="val 8711" name="adj"/>
            </a:avLst>
          </a:prstGeom>
          <a:solidFill>
            <a:srgbClr val="F0F4F8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660577" y="1289596"/>
            <a:ext cx="342900" cy="342900"/>
          </a:xfrm>
          <a:prstGeom prst="roundRect">
            <a:avLst>
              <a:gd fmla="val 266667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388452" y="1708696"/>
            <a:ext cx="88729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ALIGN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388452" y="1906786"/>
            <a:ext cx="88729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Landmarks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476601" y="1531441"/>
            <a:ext cx="1943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743301" y="1118146"/>
            <a:ext cx="1136600" cy="1093440"/>
          </a:xfrm>
          <a:prstGeom prst="roundRect">
            <a:avLst>
              <a:gd fmla="val 8711" name="adj"/>
            </a:avLst>
          </a:prstGeom>
          <a:solidFill>
            <a:srgbClr val="ECFDF5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140077" y="1289596"/>
            <a:ext cx="342900" cy="342900"/>
          </a:xfrm>
          <a:prstGeom prst="roundRect">
            <a:avLst>
              <a:gd fmla="val 266667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867952" y="1708696"/>
            <a:ext cx="88729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EMBED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867952" y="1906786"/>
            <a:ext cx="88729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FaceNet 128-D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956102" y="1531441"/>
            <a:ext cx="1943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222802" y="1118146"/>
            <a:ext cx="1136600" cy="1093440"/>
          </a:xfrm>
          <a:prstGeom prst="roundRect">
            <a:avLst>
              <a:gd fmla="val 8711" name="adj"/>
            </a:avLst>
          </a:prstGeom>
          <a:solidFill>
            <a:srgbClr val="F0F4F8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619577" y="1289596"/>
            <a:ext cx="342900" cy="342900"/>
          </a:xfrm>
          <a:prstGeom prst="roundRect">
            <a:avLst>
              <a:gd fmla="val 266667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347453" y="1708696"/>
            <a:ext cx="88729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347453" y="1906786"/>
            <a:ext cx="88729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Euclidean Dist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435602" y="1531441"/>
            <a:ext cx="1943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7702302" y="1118146"/>
            <a:ext cx="1136600" cy="1055340"/>
          </a:xfrm>
          <a:prstGeom prst="roundRect">
            <a:avLst>
              <a:gd fmla="val 9026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099078" y="1270546"/>
            <a:ext cx="342900" cy="342900"/>
          </a:xfrm>
          <a:prstGeom prst="roundRect">
            <a:avLst>
              <a:gd fmla="val 266667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807522" y="1689646"/>
            <a:ext cx="92616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807522" y="1887736"/>
            <a:ext cx="92616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Google Sheets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a9aebf8a.png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064222"/>
            <a:ext cx="2724150" cy="118854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457200" y="3216622"/>
            <a:ext cx="246773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PRESENTATION LAYER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57200" y="3439418"/>
            <a:ext cx="24677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🖥️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3782318"/>
            <a:ext cx="246773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Gradio Web UI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3967014"/>
            <a:ext cx="24677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 tabs: Add Face, Recognize, Webcam, Database Info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181350" y="3045172"/>
            <a:ext cx="2762250" cy="1226641"/>
          </a:xfrm>
          <a:prstGeom prst="roundRect">
            <a:avLst>
              <a:gd fmla="val 9318" name="adj"/>
            </a:avLst>
          </a:prstGeom>
          <a:solidFill>
            <a:srgbClr val="FFFFFF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352800" y="3216622"/>
            <a:ext cx="246773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BUSINESS LOGIC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352800" y="3439418"/>
            <a:ext cx="24677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3352800" y="3782318"/>
            <a:ext cx="246773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FaceRecognitionSystem Class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352800" y="3967014"/>
            <a:ext cx="24677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Detection, embedding, matching, enrollment logic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096000" y="3054697"/>
            <a:ext cx="2743200" cy="1207591"/>
          </a:xfrm>
          <a:prstGeom prst="roundRect">
            <a:avLst>
              <a:gd fmla="val 9465" name="adj"/>
            </a:avLst>
          </a:prstGeom>
          <a:solidFill>
            <a:srgbClr val="F0F4F8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257925" y="3216622"/>
            <a:ext cx="246773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DATA LAYER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257925" y="3439418"/>
            <a:ext cx="24677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💾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257925" y="3782318"/>
            <a:ext cx="246773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Pickle + Google Sheets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257925" y="3967014"/>
            <a:ext cx="24677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Local embeddings + cloud attendance logs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CORE ALGORITHM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81000" y="413296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Recognition Process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81000" y="1854398"/>
            <a:ext cx="4914900" cy="533400"/>
          </a:xfrm>
          <a:prstGeom prst="roundRect">
            <a:avLst>
              <a:gd fmla="val 14286" name="adj"/>
            </a:avLst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5"/>
          <p:cNvCxnSpPr/>
          <p:nvPr/>
        </p:nvCxnSpPr>
        <p:spPr>
          <a:xfrm>
            <a:off x="395288" y="1854398"/>
            <a:ext cx="0" cy="533400"/>
          </a:xfrm>
          <a:prstGeom prst="straightConnector1">
            <a:avLst/>
          </a:prstGeom>
          <a:noFill/>
          <a:ln cap="flat" cmpd="sng" w="2857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5"/>
          <p:cNvSpPr/>
          <p:nvPr/>
        </p:nvSpPr>
        <p:spPr>
          <a:xfrm>
            <a:off x="542925" y="1949648"/>
            <a:ext cx="167283" cy="171450"/>
          </a:xfrm>
          <a:prstGeom prst="roundRect">
            <a:avLst>
              <a:gd fmla="val 22776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00075" y="1968698"/>
            <a:ext cx="540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786408" y="1955304"/>
            <a:ext cx="117269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Generate Embedding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71525" y="2159198"/>
            <a:ext cx="447884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FaceNet transforms face to 128-D vector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81000" y="2444948"/>
            <a:ext cx="4914900" cy="533400"/>
          </a:xfrm>
          <a:prstGeom prst="roundRect">
            <a:avLst>
              <a:gd fmla="val 14286" name="adj"/>
            </a:avLst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5"/>
          <p:cNvCxnSpPr/>
          <p:nvPr/>
        </p:nvCxnSpPr>
        <p:spPr>
          <a:xfrm>
            <a:off x="395288" y="2444948"/>
            <a:ext cx="0" cy="533400"/>
          </a:xfrm>
          <a:prstGeom prst="straightConnector1">
            <a:avLst/>
          </a:prstGeom>
          <a:noFill/>
          <a:ln cap="flat" cmpd="sng" w="2857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5"/>
          <p:cNvSpPr/>
          <p:nvPr/>
        </p:nvSpPr>
        <p:spPr>
          <a:xfrm>
            <a:off x="542925" y="2540198"/>
            <a:ext cx="167283" cy="171450"/>
          </a:xfrm>
          <a:prstGeom prst="roundRect">
            <a:avLst>
              <a:gd fmla="val 22776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00075" y="2559248"/>
            <a:ext cx="540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786408" y="2545854"/>
            <a:ext cx="10884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Compute Distances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71525" y="2749748"/>
            <a:ext cx="447884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Euclidean distance to all stored embeddings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81000" y="3035498"/>
            <a:ext cx="4914900" cy="533400"/>
          </a:xfrm>
          <a:prstGeom prst="roundRect">
            <a:avLst>
              <a:gd fmla="val 14286" name="adj"/>
            </a:avLst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5"/>
          <p:cNvCxnSpPr/>
          <p:nvPr/>
        </p:nvCxnSpPr>
        <p:spPr>
          <a:xfrm>
            <a:off x="395288" y="3035498"/>
            <a:ext cx="0" cy="533400"/>
          </a:xfrm>
          <a:prstGeom prst="straightConnector1">
            <a:avLst/>
          </a:prstGeom>
          <a:noFill/>
          <a:ln cap="flat" cmpd="sng" w="2857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5"/>
          <p:cNvSpPr/>
          <p:nvPr/>
        </p:nvSpPr>
        <p:spPr>
          <a:xfrm>
            <a:off x="542925" y="3130748"/>
            <a:ext cx="167283" cy="171450"/>
          </a:xfrm>
          <a:prstGeom prst="roundRect">
            <a:avLst>
              <a:gd fmla="val 22776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00075" y="3149798"/>
            <a:ext cx="540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786408" y="3136404"/>
            <a:ext cx="90035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Find Best Match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71525" y="3340298"/>
            <a:ext cx="447884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Select person with minimum distance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81000" y="3626048"/>
            <a:ext cx="4914900" cy="533400"/>
          </a:xfrm>
          <a:prstGeom prst="roundRect">
            <a:avLst>
              <a:gd fmla="val 14286" name="adj"/>
            </a:avLst>
          </a:prstGeom>
          <a:solidFill>
            <a:srgbClr val="FFFFFF">
              <a:alpha val="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5"/>
          <p:cNvCxnSpPr/>
          <p:nvPr/>
        </p:nvCxnSpPr>
        <p:spPr>
          <a:xfrm>
            <a:off x="395288" y="3626048"/>
            <a:ext cx="0" cy="533400"/>
          </a:xfrm>
          <a:prstGeom prst="straightConnector1">
            <a:avLst/>
          </a:prstGeom>
          <a:noFill/>
          <a:ln cap="flat" cmpd="sng" w="2857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5"/>
          <p:cNvSpPr/>
          <p:nvPr/>
        </p:nvSpPr>
        <p:spPr>
          <a:xfrm>
            <a:off x="542925" y="3721298"/>
            <a:ext cx="167283" cy="171450"/>
          </a:xfrm>
          <a:prstGeom prst="roundRect">
            <a:avLst>
              <a:gd fmla="val 22776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00075" y="3740348"/>
            <a:ext cx="5404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786408" y="3726954"/>
            <a:ext cx="8100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Validate Match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771525" y="3930848"/>
            <a:ext cx="447884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min_samples &gt;= 3 AND distance &lt;= 0.25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486400" y="1871663"/>
            <a:ext cx="3276600" cy="1280071"/>
          </a:xfrm>
          <a:prstGeom prst="roundRect">
            <a:avLst>
              <a:gd fmla="val 7441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619750" y="2005013"/>
            <a:ext cx="307009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KEY PARAMETERS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5"/>
          <p:cNvCxnSpPr/>
          <p:nvPr/>
        </p:nvCxnSpPr>
        <p:spPr>
          <a:xfrm>
            <a:off x="5619750" y="2455515"/>
            <a:ext cx="3009900" cy="0"/>
          </a:xfrm>
          <a:prstGeom prst="straightConnector1">
            <a:avLst/>
          </a:prstGeom>
          <a:noFill/>
          <a:ln cap="flat" cmpd="sng" w="9525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5"/>
          <p:cNvSpPr/>
          <p:nvPr/>
        </p:nvSpPr>
        <p:spPr>
          <a:xfrm>
            <a:off x="5619750" y="2214563"/>
            <a:ext cx="65139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TOLERANCE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8407152" y="2214563"/>
            <a:ext cx="22694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0.25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5"/>
          <p:cNvCxnSpPr/>
          <p:nvPr/>
        </p:nvCxnSpPr>
        <p:spPr>
          <a:xfrm>
            <a:off x="5619750" y="2777430"/>
            <a:ext cx="3009900" cy="0"/>
          </a:xfrm>
          <a:prstGeom prst="straightConnector1">
            <a:avLst/>
          </a:prstGeom>
          <a:noFill/>
          <a:ln cap="flat" cmpd="sng" w="9525">
            <a:solidFill>
              <a:srgbClr val="0A25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5"/>
          <p:cNvSpPr/>
          <p:nvPr/>
        </p:nvSpPr>
        <p:spPr>
          <a:xfrm>
            <a:off x="5619750" y="2536478"/>
            <a:ext cx="760238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MIN_SAMPLES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8565952" y="2536478"/>
            <a:ext cx="6497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619750" y="2858393"/>
            <a:ext cx="90263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EMBEDDING_DIM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8438852" y="2858393"/>
            <a:ext cx="19461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128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486400" y="3208883"/>
            <a:ext cx="3276600" cy="533400"/>
          </a:xfrm>
          <a:prstGeom prst="roundRect">
            <a:avLst>
              <a:gd fmla="val 17857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600700" y="3323183"/>
            <a:ext cx="310896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Why Multi-Sample?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600700" y="3494633"/>
            <a:ext cx="310896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Captures variation in lighting, pose, expression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486400" y="3799433"/>
            <a:ext cx="3276600" cy="342900"/>
          </a:xfrm>
          <a:prstGeom prst="roundRect">
            <a:avLst>
              <a:gd fmla="val 22222" name="adj"/>
            </a:avLst>
          </a:prstGeom>
          <a:solidFill>
            <a:srgbClr val="EF4444">
              <a:alpha val="9803"/>
            </a:srgbClr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5591175" y="3904208"/>
            <a:ext cx="312839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If check fails: returns Unknown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81000" y="413296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Gradio Web Interface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81000" y="1022896"/>
            <a:ext cx="4124325" cy="1917353"/>
          </a:xfrm>
          <a:prstGeom prst="roundRect">
            <a:avLst>
              <a:gd fmla="val 496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42925" y="1184821"/>
            <a:ext cx="342900" cy="342900"/>
          </a:xfrm>
          <a:prstGeom prst="roundRect">
            <a:avLst>
              <a:gd fmla="val 22222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64220" y="1236315"/>
            <a:ext cx="102165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981075" y="1262955"/>
            <a:ext cx="92980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Add New Face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42925" y="1622971"/>
            <a:ext cx="387648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Upload photo, enter name, add 3+ samples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638675" y="1022896"/>
            <a:ext cx="4124325" cy="1917353"/>
          </a:xfrm>
          <a:prstGeom prst="roundRect">
            <a:avLst>
              <a:gd fmla="val 496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800600" y="1184821"/>
            <a:ext cx="342900" cy="342900"/>
          </a:xfrm>
          <a:prstGeom prst="roundRect">
            <a:avLst>
              <a:gd fmla="val 22222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924276" y="1236315"/>
            <a:ext cx="97307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238750" y="1262955"/>
            <a:ext cx="110377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Recognize Faces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800600" y="1622971"/>
            <a:ext cx="387648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Multi-face detection with confidence scores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81000" y="3073598"/>
            <a:ext cx="4114800" cy="1917353"/>
          </a:xfrm>
          <a:prstGeom prst="roundRect">
            <a:avLst>
              <a:gd fmla="val 4968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33400" y="3225998"/>
            <a:ext cx="342900" cy="342900"/>
          </a:xfrm>
          <a:prstGeom prst="roundRect">
            <a:avLst>
              <a:gd fmla="val 22222" name="adj"/>
            </a:avLst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38026" y="3277493"/>
            <a:ext cx="136169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971550" y="3304133"/>
            <a:ext cx="138051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Webcam Recognition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33400" y="3664148"/>
            <a:ext cx="38862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Real-time camera capture and instant results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629150" y="3073598"/>
            <a:ext cx="4133850" cy="1917353"/>
          </a:xfrm>
          <a:prstGeom prst="roundRect">
            <a:avLst>
              <a:gd fmla="val 496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791075" y="3235523"/>
            <a:ext cx="342900" cy="342900"/>
          </a:xfrm>
          <a:prstGeom prst="roundRect">
            <a:avLst>
              <a:gd fmla="val 22222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912370" y="3287018"/>
            <a:ext cx="102165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229225" y="3313658"/>
            <a:ext cx="89200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Database Info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791075" y="3673673"/>
            <a:ext cx="388620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6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View registered people and sample counts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81000" y="413296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Results and Benchmarks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81000" y="1616571"/>
            <a:ext cx="4095750" cy="1098947"/>
          </a:xfrm>
          <a:prstGeom prst="roundRect">
            <a:avLst>
              <a:gd fmla="val 8667" name="adj"/>
            </a:avLst>
          </a:prstGeom>
          <a:solidFill>
            <a:srgbClr val="F0FDF4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52450" y="1788021"/>
            <a:ext cx="382790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FaceNet Model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52450" y="1999357"/>
            <a:ext cx="3827907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99.63%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552450" y="2410718"/>
            <a:ext cx="382790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LFW Benchmark Accuracy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381000" y="2810768"/>
            <a:ext cx="4095750" cy="948630"/>
          </a:xfrm>
          <a:prstGeom prst="roundRect">
            <a:avLst>
              <a:gd fmla="val 803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23875" y="2953643"/>
            <a:ext cx="388620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RetinaFace Detector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23875" y="3151733"/>
            <a:ext cx="38862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91.4%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23875" y="3483173"/>
            <a:ext cx="38862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WIDER FACE Hard Set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381000" y="3854648"/>
            <a:ext cx="1314450" cy="542776"/>
          </a:xfrm>
          <a:prstGeom prst="roundRect">
            <a:avLst>
              <a:gd fmla="val 1052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65011" y="3949898"/>
            <a:ext cx="114642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500ms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465011" y="4182219"/>
            <a:ext cx="114642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Detection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771650" y="3854648"/>
            <a:ext cx="1314450" cy="542776"/>
          </a:xfrm>
          <a:prstGeom prst="roundRect">
            <a:avLst>
              <a:gd fmla="val 1052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1855661" y="3949898"/>
            <a:ext cx="114642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200ms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1855661" y="4182219"/>
            <a:ext cx="114642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162300" y="3854648"/>
            <a:ext cx="1314450" cy="542776"/>
          </a:xfrm>
          <a:prstGeom prst="roundRect">
            <a:avLst>
              <a:gd fmla="val 10529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246311" y="3949898"/>
            <a:ext cx="114642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1 sec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3246311" y="4182219"/>
            <a:ext cx="1146429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667250" y="1790849"/>
            <a:ext cx="417766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FEATURES ACHIEVED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667250" y="2013645"/>
            <a:ext cx="4095750" cy="377130"/>
          </a:xfrm>
          <a:prstGeom prst="roundRect">
            <a:avLst>
              <a:gd fmla="val 1515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781550" y="2108895"/>
            <a:ext cx="9077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965799" y="2128838"/>
            <a:ext cx="98005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Multi-Face Detection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667250" y="2466975"/>
            <a:ext cx="4095750" cy="377130"/>
          </a:xfrm>
          <a:prstGeom prst="roundRect">
            <a:avLst>
              <a:gd fmla="val 1515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781550" y="2562225"/>
            <a:ext cx="9077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965799" y="2582168"/>
            <a:ext cx="93830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Real-Time Webcam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667250" y="2920305"/>
            <a:ext cx="4095750" cy="377130"/>
          </a:xfrm>
          <a:prstGeom prst="roundRect">
            <a:avLst>
              <a:gd fmla="val 1515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781550" y="3015555"/>
            <a:ext cx="9077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965799" y="3035498"/>
            <a:ext cx="1117131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Google Sheets Logging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667250" y="3373636"/>
            <a:ext cx="4095750" cy="377130"/>
          </a:xfrm>
          <a:prstGeom prst="roundRect">
            <a:avLst>
              <a:gd fmla="val 1515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781550" y="3468886"/>
            <a:ext cx="9077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965799" y="3488829"/>
            <a:ext cx="116419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Multi-Sample Enrollment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667250" y="3826966"/>
            <a:ext cx="4095750" cy="396180"/>
          </a:xfrm>
          <a:prstGeom prst="roundRect">
            <a:avLst>
              <a:gd fmla="val 14425" name="adj"/>
            </a:avLst>
          </a:prstGeom>
          <a:solidFill>
            <a:srgbClr val="ECFDF5"/>
          </a:solidFill>
          <a:ln cap="flat" cmpd="sng" w="95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791075" y="3931741"/>
            <a:ext cx="9077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975324" y="3951684"/>
            <a:ext cx="131037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Production-Ready Web UI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/>
          <p:nvPr/>
        </p:nvSpPr>
        <p:spPr>
          <a:xfrm>
            <a:off x="381000" y="228600"/>
            <a:ext cx="85496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81000" y="413296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0A2540"/>
                </a:solidFill>
                <a:latin typeface="Georgia"/>
                <a:ea typeface="Georgia"/>
                <a:cs typeface="Georgia"/>
                <a:sym typeface="Georgia"/>
              </a:rPr>
              <a:t>Future Enhancements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81000" y="1707059"/>
            <a:ext cx="417766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CURRENT LIMITATIONS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81000" y="1929854"/>
            <a:ext cx="4095750" cy="537121"/>
          </a:xfrm>
          <a:prstGeom prst="roundRect">
            <a:avLst>
              <a:gd fmla="val 1064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8"/>
          <p:cNvCxnSpPr/>
          <p:nvPr/>
        </p:nvCxnSpPr>
        <p:spPr>
          <a:xfrm>
            <a:off x="395288" y="1929854"/>
            <a:ext cx="0" cy="537121"/>
          </a:xfrm>
          <a:prstGeom prst="straightConnector1">
            <a:avLst/>
          </a:prstGeom>
          <a:noFill/>
          <a:ln cap="flat" cmpd="sng" w="2857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8"/>
          <p:cNvSpPr/>
          <p:nvPr/>
        </p:nvSpPr>
        <p:spPr>
          <a:xfrm>
            <a:off x="523875" y="2044154"/>
            <a:ext cx="391534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No Liveness Detection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23875" y="2219325"/>
            <a:ext cx="3915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Vulnerable to photo spoofing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81000" y="2543175"/>
            <a:ext cx="4095750" cy="537121"/>
          </a:xfrm>
          <a:prstGeom prst="roundRect">
            <a:avLst>
              <a:gd fmla="val 10640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8"/>
          <p:cNvCxnSpPr/>
          <p:nvPr/>
        </p:nvCxnSpPr>
        <p:spPr>
          <a:xfrm>
            <a:off x="395288" y="2543175"/>
            <a:ext cx="0" cy="537121"/>
          </a:xfrm>
          <a:prstGeom prst="straightConnector1">
            <a:avLst/>
          </a:prstGeom>
          <a:noFill/>
          <a:ln cap="flat" cmpd="sng" w="2857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8"/>
          <p:cNvSpPr/>
          <p:nvPr/>
        </p:nvSpPr>
        <p:spPr>
          <a:xfrm>
            <a:off x="523875" y="2657475"/>
            <a:ext cx="391534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Linear Search Scaling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23875" y="2832646"/>
            <a:ext cx="3915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O(n) may slow with 1000+ users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381000" y="3156496"/>
            <a:ext cx="4095750" cy="537121"/>
          </a:xfrm>
          <a:prstGeom prst="roundRect">
            <a:avLst>
              <a:gd fmla="val 10640" name="adj"/>
            </a:avLst>
          </a:prstGeom>
          <a:solidFill>
            <a:srgbClr val="FEFC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8"/>
          <p:cNvCxnSpPr/>
          <p:nvPr/>
        </p:nvCxnSpPr>
        <p:spPr>
          <a:xfrm>
            <a:off x="395288" y="3156496"/>
            <a:ext cx="0" cy="537121"/>
          </a:xfrm>
          <a:prstGeom prst="straightConnector1">
            <a:avLst/>
          </a:prstGeom>
          <a:noFill/>
          <a:ln cap="flat" cmpd="sng" w="28575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8"/>
          <p:cNvSpPr/>
          <p:nvPr/>
        </p:nvSpPr>
        <p:spPr>
          <a:xfrm>
            <a:off x="523875" y="3270796"/>
            <a:ext cx="391534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854D0E"/>
                </a:solidFill>
                <a:latin typeface="Arial"/>
                <a:ea typeface="Arial"/>
                <a:cs typeface="Arial"/>
                <a:sym typeface="Arial"/>
              </a:rPr>
              <a:t>Frontal Face Required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23875" y="3445966"/>
            <a:ext cx="3915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Extreme poses reduce accuracy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381000" y="3769816"/>
            <a:ext cx="4095750" cy="537121"/>
          </a:xfrm>
          <a:prstGeom prst="roundRect">
            <a:avLst>
              <a:gd fmla="val 10640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8"/>
          <p:cNvCxnSpPr/>
          <p:nvPr/>
        </p:nvCxnSpPr>
        <p:spPr>
          <a:xfrm>
            <a:off x="395288" y="3769816"/>
            <a:ext cx="0" cy="537121"/>
          </a:xfrm>
          <a:prstGeom prst="straightConnector1">
            <a:avLst/>
          </a:prstGeom>
          <a:noFill/>
          <a:ln cap="flat" cmpd="sng" w="285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8"/>
          <p:cNvSpPr/>
          <p:nvPr/>
        </p:nvSpPr>
        <p:spPr>
          <a:xfrm>
            <a:off x="523875" y="3884116"/>
            <a:ext cx="391534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Pickle Storage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23875" y="4059287"/>
            <a:ext cx="391534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Not for concurrent access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667250" y="1678484"/>
            <a:ext cx="4177665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PROPOSED SOLUTIONS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667250" y="1901279"/>
            <a:ext cx="4095750" cy="556171"/>
          </a:xfrm>
          <a:prstGeom prst="roundRect">
            <a:avLst>
              <a:gd fmla="val 102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791075" y="2025104"/>
            <a:ext cx="392506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Liveness Detection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791075" y="2200275"/>
            <a:ext cx="392506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Blink detection, head movement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667250" y="2533650"/>
            <a:ext cx="4095750" cy="556171"/>
          </a:xfrm>
          <a:prstGeom prst="roundRect">
            <a:avLst>
              <a:gd fmla="val 102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791075" y="2657475"/>
            <a:ext cx="392506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Vector Database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791075" y="2832646"/>
            <a:ext cx="392506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FAISS / Pinecone for O(log n)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667250" y="3166021"/>
            <a:ext cx="4095750" cy="556171"/>
          </a:xfrm>
          <a:prstGeom prst="roundRect">
            <a:avLst>
              <a:gd fmla="val 102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791075" y="3289846"/>
            <a:ext cx="392506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2540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0A2540"/>
                </a:solidFill>
                <a:latin typeface="Arial"/>
                <a:ea typeface="Arial"/>
                <a:cs typeface="Arial"/>
                <a:sym typeface="Arial"/>
              </a:rPr>
              <a:t>GPU Acceleration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791075" y="3465016"/>
            <a:ext cx="392506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TensorRT for video streaming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667250" y="3798391"/>
            <a:ext cx="4095750" cy="537121"/>
          </a:xfrm>
          <a:prstGeom prst="roundRect">
            <a:avLst>
              <a:gd fmla="val 10640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781550" y="3912691"/>
            <a:ext cx="3944493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1" lang="en-US" sz="8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Edge Deployment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781550" y="4087862"/>
            <a:ext cx="394449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Raspberry Pi / Jetson kiosks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3472328" y="893713"/>
            <a:ext cx="21991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3687084" y="2358479"/>
            <a:ext cx="1797216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Questions and Discussion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2381994" y="3472755"/>
            <a:ext cx="1248073" cy="439936"/>
          </a:xfrm>
          <a:prstGeom prst="roundRect">
            <a:avLst>
              <a:gd fmla="val 17321" name="adj"/>
            </a:avLst>
          </a:prstGeom>
          <a:solidFill>
            <a:srgbClr val="00D4AA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2563823" y="3606105"/>
            <a:ext cx="88441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Meghesh Saini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3820567" y="3472755"/>
            <a:ext cx="1530251" cy="439936"/>
          </a:xfrm>
          <a:prstGeom prst="roundRect">
            <a:avLst>
              <a:gd fmla="val 17321" name="adj"/>
            </a:avLst>
          </a:prstGeom>
          <a:solidFill>
            <a:srgbClr val="00D4AA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3999574" y="3606105"/>
            <a:ext cx="1172236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Aishwarya Gulhane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5541318" y="3472755"/>
            <a:ext cx="1220539" cy="439936"/>
          </a:xfrm>
          <a:prstGeom prst="roundRect">
            <a:avLst>
              <a:gd fmla="val 17321" name="adj"/>
            </a:avLst>
          </a:prstGeom>
          <a:solidFill>
            <a:srgbClr val="00D4AA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5723422" y="3606105"/>
            <a:ext cx="85633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Dhrub Satyam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2921741" y="4293690"/>
            <a:ext cx="3300518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Guidance by Prof. Amit Butail | USD Computer Vision | Team 11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2025-12-07T11:03:25Z</dcterms:created>
  <dc:creator>Team 11 - USD Computer Vision</dc:creator>
</cp:coreProperties>
</file>